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3792200" cy="115062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3900"/>
    <a:srgbClr val="A8754E"/>
    <a:srgbClr val="B77C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https://jlu-igem-wiki-preview.pages.dev/Eagagement/iHP
Figure 1 audit: 14 separately opened on-site PDFs; 49 distinct documented engagement/work units, conservatively shown as 45+; 769 response/attendance/contact/ballot touchpoints (not unique persons); 28 selected replicable artifacts/formats; 20 analyst-defined fields; 24 distinct named expert/professional contacts.
PDFs:
Stakeholder scoring criteria: https://jlu-igem-wiki-preview.pages.dev/ihp-resources/revision-4-20261017/stakeholder-scoring-criteria.pdf
Stakeholder review &amp; adaptation: https://jlu-igem-wiki-preview.pages.dev/ihp-resources/revision-4-20261017/stakeholder-review-and-adaptation.pdf
Nursing-home informed consent: https://jlu-igem-wiki-preview.pages.dev/ihp-resources/revision-4-20261017/nursing-home-informed-consent.pdf
Kindergarten informed consent: https://jlu-igem-wiki-preview.pages.dev/ihp-resources/revision-4-20261017/kindergarten-informed-consent.pdf
Community emergency response guide: https://jlu-igem-wiki-preview.pages.dev/ihp-resources/revision-6-20261017/community-collaborative-emergency-response-guide.pdf
ByeGerm 1.0 user manual: https://jlu-igem-wiki-preview.pages.dev/ihp-resources/revision-4-20261017/byegerm-1-user-manual.pdf
Retrospective empathy survey: https://jlu-igem-wiki-preview.pages.dev/ihp-resources/revision-4-20261017/retrospective-empathy-survey.pdf
ByeGerm 2.0 user manual: https://jlu-igem-wiki-preview.pages.dev/ihp-resources/revision-4-20261017/byegerm-2-user-manual.pdf
Respiratory card-game instructions: https://jlu-igem-wiki-preview.pages.dev/ihp-resources/revision-6-20261017/card-game-instructions.pdf
Kindergarten material safety: https://jlu-igem-wiki-preview.pages.dev/ihp-resources/revision-4-20261017/kindergarten-material-safety.pdf
Kindergarten venue/personnel safety: https://jlu-igem-wiki-preview.pages.dev/ihp-resources/revision-4-20261017/kindergarten-venue-personnel-safety.pdf
Kindergarten activity safety: https://jlu-igem-wiki-preview.pages.dev/ihp-resources/revision-4-20261017/kindergarten-activity-safety.pdf
Older-adult education resource: https://jlu-igem-wiki-preview.pages.dev/ihp-resources/revision-4-20261017/older-adult-education.pdf
Braille learning material: https://jlu-igem-wiki-preview.pages.dev/ihp-resources/revision-4-20261017/braille-learning-material.pdf
Important: surveys 385+200, 100 special-needs youth attendees, 60 elder feedback slips, 24 named contacts. 60 slips are not verified persons. Not counting unknown numbers of teachers, children, questions, international event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9220" y="4346787"/>
            <a:ext cx="11033760" cy="166200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068830" y="6328410"/>
            <a:ext cx="9654540" cy="12784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379220" y="4794250"/>
            <a:ext cx="11033760" cy="19177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12240578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7327106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816402" y="10969244"/>
            <a:ext cx="905000" cy="503333"/>
          </a:xfrm>
          <a:prstGeom prst="rect">
            <a:avLst/>
          </a:prstGeom>
        </p:spPr>
        <p:txBody>
          <a:bodyPr/>
          <a:lstStyle>
            <a:lvl1pPr>
              <a:defRPr sz="905">
                <a:solidFill>
                  <a:srgbClr val="9C827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05792" y="3572639"/>
            <a:ext cx="12412980" cy="537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80" b="1" dirty="0">
                <a:solidFill>
                  <a:srgbClr val="462F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Practices, in Numbers</a:t>
            </a:r>
            <a:endParaRPr lang="en-US" sz="3280" dirty="0"/>
          </a:p>
        </p:txBody>
      </p:sp>
      <p:sp>
        <p:nvSpPr>
          <p:cNvPr id="5" name="Shape 3"/>
          <p:cNvSpPr/>
          <p:nvPr/>
        </p:nvSpPr>
        <p:spPr>
          <a:xfrm>
            <a:off x="10256215" y="4687796"/>
            <a:ext cx="2029968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11079" y="5080730"/>
            <a:ext cx="192024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B9664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</a:t>
            </a:r>
            <a:endParaRPr lang="en-US" sz="4865" dirty="0"/>
          </a:p>
        </p:txBody>
      </p:sp>
      <p:sp>
        <p:nvSpPr>
          <p:cNvPr id="7" name="Text 5"/>
          <p:cNvSpPr/>
          <p:nvPr/>
        </p:nvSpPr>
        <p:spPr>
          <a:xfrm>
            <a:off x="10311079" y="5877373"/>
            <a:ext cx="1920240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Published  resources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93566" y="4687796"/>
            <a:ext cx="2029968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8430" y="5080730"/>
            <a:ext cx="192024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A5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50+</a:t>
            </a:r>
            <a:endParaRPr lang="en-US" sz="4865" dirty="0"/>
          </a:p>
        </p:txBody>
      </p:sp>
      <p:sp>
        <p:nvSpPr>
          <p:cNvPr id="11" name="Text 9"/>
          <p:cNvSpPr/>
          <p:nvPr/>
        </p:nvSpPr>
        <p:spPr>
          <a:xfrm>
            <a:off x="3748430" y="5877373"/>
            <a:ext cx="1920240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Replicable Engagement Activities</a:t>
            </a:r>
            <a:endParaRPr lang="en-US" sz="1515" b="1" dirty="0">
              <a:solidFill>
                <a:srgbClr val="462F2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36824" y="5318502"/>
            <a:ext cx="3034284" cy="22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6016" y="4687796"/>
            <a:ext cx="2029968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60880" y="5080730"/>
            <a:ext cx="192024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CD806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770+</a:t>
            </a:r>
            <a:endParaRPr lang="en-US" sz="4865" dirty="0"/>
          </a:p>
        </p:txBody>
      </p:sp>
      <p:sp>
        <p:nvSpPr>
          <p:cNvPr id="15" name="Text 13"/>
          <p:cNvSpPr/>
          <p:nvPr/>
        </p:nvSpPr>
        <p:spPr>
          <a:xfrm>
            <a:off x="1560880" y="5877373"/>
            <a:ext cx="1920240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Participants</a:t>
            </a:r>
            <a:endParaRPr lang="en-US" sz="2000" b="1" dirty="0">
              <a:solidFill>
                <a:srgbClr val="462F2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68665" y="4687796"/>
            <a:ext cx="2029968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23529" y="5080730"/>
            <a:ext cx="192024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B9664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</a:t>
            </a:r>
            <a:endParaRPr lang="en-US" sz="4865" dirty="0"/>
          </a:p>
        </p:txBody>
      </p:sp>
      <p:sp>
        <p:nvSpPr>
          <p:cNvPr id="23" name="Text 21"/>
          <p:cNvSpPr/>
          <p:nvPr/>
        </p:nvSpPr>
        <p:spPr>
          <a:xfrm>
            <a:off x="8123529" y="5877373"/>
            <a:ext cx="1920240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Fields 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881116" y="4687796"/>
            <a:ext cx="2029968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35980" y="5080730"/>
            <a:ext cx="192024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AE71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43</a:t>
            </a:r>
            <a:endParaRPr lang="en-US" sz="4865" dirty="0"/>
          </a:p>
        </p:txBody>
      </p:sp>
      <p:sp>
        <p:nvSpPr>
          <p:cNvPr id="27" name="Text 25"/>
          <p:cNvSpPr/>
          <p:nvPr/>
        </p:nvSpPr>
        <p:spPr>
          <a:xfrm>
            <a:off x="5935980" y="5877373"/>
            <a:ext cx="1920240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Professional contacts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816402" y="9270111"/>
            <a:ext cx="905000" cy="339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C827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algn="l"/>
            <a:fld id="{F7021451-1387-4CA6-816F-3879F97B5CBC}" type="slidenum">
              <a:rPr lang="en-US" sz="905" b="0"/>
            </a:fld>
            <a:endParaRPr lang="en-US" sz="90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WPS 演示</Application>
  <PresentationFormat>Converted Presentation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Arial</vt:lpstr>
      <vt:lpstr>Arial</vt:lpstr>
      <vt:lpstr>Aptos</vt:lpstr>
      <vt:lpstr>Helvetica Neue</vt:lpstr>
      <vt:lpstr>微软雅黑</vt:lpstr>
      <vt:lpstr>汉仪旗黑</vt:lpstr>
      <vt:lpstr>宋体</vt:lpstr>
      <vt:lpstr>Arial Unicode MS</vt:lpstr>
      <vt:lpstr>Calibri</vt:lpstr>
      <vt:lpstr>汉仪书宋二KW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我是223191</cp:lastModifiedBy>
  <cp:revision>8</cp:revision>
  <dcterms:created xsi:type="dcterms:W3CDTF">2026-10-19T05:31:05Z</dcterms:created>
  <dcterms:modified xsi:type="dcterms:W3CDTF">2026-10-19T05:31:05Z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675E7131A547215219ABD56A588A841E_43</vt:lpwstr>
  </property>
  <property fmtid="{D5CDD505-2E9C-101B-9397-08002B2CF9AE}" pid="3" name="KSOProductBuildVer">
    <vt:lpwstr>2052-12.1.25895.25895</vt:lpwstr>
  </property>
</Properties>
</file>